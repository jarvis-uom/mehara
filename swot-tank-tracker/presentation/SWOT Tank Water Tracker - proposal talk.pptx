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f1d99a-2a4f-5797-8544-9ce4c1c0c0e0}">
          <p14:sldIdLst>
            <p14:sldId id="256"/>
            <p14:sldId id="257"/>
            <p14:sldId id="258"/>
          </p14:sldIdLst>
        </p14:section>
        <p14:section name="The satellites" id="{c44070f2-b8b4-f883-4518-aac41dcc1b86}">
          <p14:sldIdLst>
            <p14:sldId id="259"/>
            <p14:sldId id="260"/>
            <p14:sldId id="261"/>
          </p14:sldIdLst>
        </p14:section>
        <p14:section name="Study and method" id="{10a038ba-711f-c376-4077-60ebbabe523c}">
          <p14:sldIdLst>
            <p14:sldId id="262"/>
            <p14:sldId id="263"/>
            <p14:sldId id="264"/>
          </p14:sldIdLst>
        </p14:section>
        <p14:section name="Evidence" id="{450f62bd-e427-b531-e4ea-8222e71af15f}">
          <p14:sldIdLst>
            <p14:sldId id="265"/>
            <p14:sldId id="266"/>
            <p14:sldId id="267"/>
          </p14:sldIdLst>
        </p14:section>
        <p14:section name="Plan" id="{9573e782-508d-c25c-f379-5351de350645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42430"/>
                </a:solidFill>
                <a:latin typeface="+mj-lt"/>
              </a:rPr>
              <a:t>Hurulu Wewa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Hurulu Wewa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2023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1.64</c:v>
                </c:pt>
                <c:pt idx="11">
                  <c:v>2.74</c:v>
                </c:pt>
                <c:pt idx="12">
                  <c:v>4.73</c:v>
                </c:pt>
                <c:pt idx="13">
                  <c:v>4.81</c:v>
                </c:pt>
                <c:pt idx="14">
                  <c:v>4.25</c:v>
                </c:pt>
                <c:pt idx="15">
                  <c:v>3.09</c:v>
                </c:pt>
                <c:pt idx="16">
                  <c:v>2.43</c:v>
                </c:pt>
                <c:pt idx="17">
                  <c:v>1.73</c:v>
                </c:pt>
                <c:pt idx="18">
                  <c:v>0.52</c:v>
                </c:pt>
                <c:pt idx="19">
                  <c:v>0.25</c:v>
                </c:pt>
                <c:pt idx="20">
                  <c:v>0.03</c:v>
                </c:pt>
                <c:pt idx="21">
                  <c:v>0.15</c:v>
                </c:pt>
                <c:pt idx="22">
                  <c:v/>
                </c:pt>
                <c:pt idx="23">
                  <c:v>2.83</c:v>
                </c:pt>
                <c:pt idx="24">
                  <c:v>4.84</c:v>
                </c:pt>
                <c:pt idx="25">
                  <c:v>4.72</c:v>
                </c:pt>
                <c:pt idx="26">
                  <c:v>4.92</c:v>
                </c:pt>
                <c:pt idx="27">
                  <c:v>4.02</c:v>
                </c:pt>
                <c:pt idx="28">
                  <c:v>4.5</c:v>
                </c:pt>
                <c:pt idx="29">
                  <c:v>3.36</c:v>
                </c:pt>
                <c:pt idx="30">
                  <c:v>1.82</c:v>
                </c:pt>
                <c:pt idx="31">
                  <c:v>1.31</c:v>
                </c:pt>
                <c:pt idx="32">
                  <c:v>1.23</c:v>
                </c:pt>
                <c:pt idx="33">
                  <c:v>1.23</c:v>
                </c:pt>
                <c:pt idx="34">
                  <c:v>0.4</c:v>
                </c:pt>
                <c:pt idx="35">
                  <c:v>5</c:v>
                </c:pt>
                <c:pt idx="36">
                  <c:v>4.72</c:v>
                </c:pt>
                <c:pt idx="37">
                  <c:v>4.3</c:v>
                </c:pt>
                <c:pt idx="38">
                  <c:v>4.42</c:v>
                </c:pt>
                <c:pt idx="39">
                  <c:v>3.32</c:v>
                </c:pt>
                <c:pt idx="40">
                  <c:v>3.67</c:v>
                </c:pt>
                <c:pt idx="41">
                  <c:v>2.26</c:v>
                </c:pt>
                <c:pt idx="42">
                  <c:v>0.84</c:v>
                </c:pt>
                <c:pt idx="43">
                  <c:v>0.16</c:v>
                </c:pt>
                <c:pt idx="44">
                  <c:v>0.06</c:v>
                </c:pt>
                <c:pt idx="4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6656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6656F"/>
                    </a:solidFill>
                    <a:latin typeface="Arial"/>
                  </a:rPr>
                  <a:t>metres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42430"/>
                </a:solidFill>
                <a:latin typeface="+mj-lt"/>
              </a:rPr>
              <a:t>Mahakanadarawa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Mahakanadarawa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2023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0.69</c:v>
                </c:pt>
                <c:pt idx="10">
                  <c:v>3.95</c:v>
                </c:pt>
                <c:pt idx="11">
                  <c:v/>
                </c:pt>
                <c:pt idx="12">
                  <c:v>4.39</c:v>
                </c:pt>
                <c:pt idx="13">
                  <c:v>3.93</c:v>
                </c:pt>
                <c:pt idx="14">
                  <c:v>3.26</c:v>
                </c:pt>
                <c:pt idx="15">
                  <c:v>2.41</c:v>
                </c:pt>
                <c:pt idx="16">
                  <c:v>2.07</c:v>
                </c:pt>
                <c:pt idx="17">
                  <c:v>1.72</c:v>
                </c:pt>
                <c:pt idx="18">
                  <c:v>0.8</c:v>
                </c:pt>
                <c:pt idx="19">
                  <c:v>0.57</c:v>
                </c:pt>
                <c:pt idx="20">
                  <c:v>0.45</c:v>
                </c:pt>
                <c:pt idx="21">
                  <c:v>0.31</c:v>
                </c:pt>
                <c:pt idx="22">
                  <c:v/>
                </c:pt>
                <c:pt idx="23">
                  <c:v>3.74</c:v>
                </c:pt>
                <c:pt idx="24">
                  <c:v>4.35</c:v>
                </c:pt>
                <c:pt idx="25">
                  <c:v>4.34</c:v>
                </c:pt>
                <c:pt idx="26">
                  <c:v>4.38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2.7</c:v>
                </c:pt>
                <c:pt idx="31">
                  <c:v>2.1</c:v>
                </c:pt>
                <c:pt idx="32">
                  <c:v>1.88</c:v>
                </c:pt>
                <c:pt idx="33">
                  <c:v>0.4</c:v>
                </c:pt>
                <c:pt idx="34">
                  <c:v>0</c:v>
                </c:pt>
                <c:pt idx="35">
                  <c:v>4.2</c:v>
                </c:pt>
                <c:pt idx="36">
                  <c:v>4.09</c:v>
                </c:pt>
                <c:pt idx="37">
                  <c:v>4.2</c:v>
                </c:pt>
                <c:pt idx="38">
                  <c:v>4.11</c:v>
                </c:pt>
                <c:pt idx="39">
                  <c:v>3</c:v>
                </c:pt>
                <c:pt idx="40">
                  <c:v>3.46</c:v>
                </c:pt>
                <c:pt idx="41">
                  <c:v>2.97</c:v>
                </c:pt>
                <c:pt idx="42">
                  <c:v>2.34</c:v>
                </c:pt>
                <c:pt idx="43">
                  <c:v>1.99</c:v>
                </c:pt>
                <c:pt idx="44">
                  <c:v>1.77</c:v>
                </c:pt>
                <c:pt idx="45">
                  <c:v>1.59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42430"/>
                </a:solidFill>
                <a:latin typeface="+mj-lt"/>
              </a:rPr>
              <a:t>Manankattiya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Manankattiya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2023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3.43</c:v>
                </c:pt>
                <c:pt idx="11">
                  <c:v>3.45</c:v>
                </c:pt>
                <c:pt idx="12">
                  <c:v>3.45</c:v>
                </c:pt>
                <c:pt idx="13">
                  <c:v>3.31</c:v>
                </c:pt>
                <c:pt idx="14">
                  <c:v>2.84</c:v>
                </c:pt>
                <c:pt idx="15">
                  <c:v>2.27</c:v>
                </c:pt>
                <c:pt idx="16">
                  <c:v>1.86</c:v>
                </c:pt>
                <c:pt idx="17">
                  <c:v>1.38</c:v>
                </c:pt>
                <c:pt idx="18">
                  <c:v>0.84</c:v>
                </c:pt>
                <c:pt idx="19">
                  <c:v>0.8</c:v>
                </c:pt>
                <c:pt idx="20">
                  <c:v>0.89</c:v>
                </c:pt>
                <c:pt idx="21">
                  <c:v>0.95</c:v>
                </c:pt>
                <c:pt idx="22">
                  <c:v>1.37</c:v>
                </c:pt>
                <c:pt idx="23">
                  <c:v/>
                </c:pt>
                <c:pt idx="24">
                  <c:v>3.66</c:v>
                </c:pt>
                <c:pt idx="25">
                  <c:v>3.48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2.67</c:v>
                </c:pt>
                <c:pt idx="30">
                  <c:v>2.21</c:v>
                </c:pt>
                <c:pt idx="31">
                  <c:v>1.85</c:v>
                </c:pt>
                <c:pt idx="32">
                  <c:v>1.72</c:v>
                </c:pt>
                <c:pt idx="33">
                  <c:v>1.5</c:v>
                </c:pt>
                <c:pt idx="34">
                  <c:v>1.17</c:v>
                </c:pt>
                <c:pt idx="35">
                  <c:v>3.25</c:v>
                </c:pt>
                <c:pt idx="36">
                  <c:v>3.09</c:v>
                </c:pt>
                <c:pt idx="37">
                  <c:v>2.76</c:v>
                </c:pt>
                <c:pt idx="38">
                  <c:v>2.63</c:v>
                </c:pt>
                <c:pt idx="39">
                  <c:v>1.93</c:v>
                </c:pt>
                <c:pt idx="40">
                  <c:v>1.89</c:v>
                </c:pt>
                <c:pt idx="41">
                  <c:v>1</c:v>
                </c:pt>
                <c:pt idx="42">
                  <c:v>0.59</c:v>
                </c:pt>
                <c:pt idx="43">
                  <c:v>0</c:v>
                </c:pt>
                <c:pt idx="44">
                  <c:v/>
                </c:pt>
                <c:pt idx="4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42430"/>
                </a:solidFill>
                <a:latin typeface="+mj-lt"/>
              </a:rPr>
              <a:t>Nachchaduwa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Nachchaduwa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2023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0</c:v>
                </c:pt>
                <c:pt idx="10">
                  <c:v>2.47</c:v>
                </c:pt>
                <c:pt idx="11">
                  <c:v>2.85</c:v>
                </c:pt>
                <c:pt idx="12">
                  <c:v>2.75</c:v>
                </c:pt>
                <c:pt idx="13">
                  <c:v>2.55</c:v>
                </c:pt>
                <c:pt idx="14">
                  <c:v>2.39</c:v>
                </c:pt>
                <c:pt idx="15">
                  <c:v>1.79</c:v>
                </c:pt>
                <c:pt idx="16">
                  <c:v>1.53</c:v>
                </c:pt>
                <c:pt idx="17">
                  <c:v>1.93</c:v>
                </c:pt>
                <c:pt idx="18">
                  <c:v>1.18</c:v>
                </c:pt>
                <c:pt idx="19">
                  <c:v>1.06</c:v>
                </c:pt>
                <c:pt idx="20">
                  <c:v>1.67</c:v>
                </c:pt>
                <c:pt idx="21">
                  <c:v>1.62</c:v>
                </c:pt>
                <c:pt idx="22">
                  <c:v/>
                </c:pt>
                <c:pt idx="23">
                  <c:v>2.78</c:v>
                </c:pt>
                <c:pt idx="24">
                  <c:v>2.86</c:v>
                </c:pt>
                <c:pt idx="25">
                  <c:v>2.75</c:v>
                </c:pt>
                <c:pt idx="26">
                  <c:v>2.96</c:v>
                </c:pt>
                <c:pt idx="27">
                  <c:v>2.61</c:v>
                </c:pt>
                <c:pt idx="28">
                  <c:v/>
                </c:pt>
                <c:pt idx="29">
                  <c:v>2.25</c:v>
                </c:pt>
                <c:pt idx="30">
                  <c:v>1.44</c:v>
                </c:pt>
                <c:pt idx="31">
                  <c:v>0.84</c:v>
                </c:pt>
                <c:pt idx="32">
                  <c:v>0.78</c:v>
                </c:pt>
                <c:pt idx="33">
                  <c:v/>
                </c:pt>
                <c:pt idx="34">
                  <c:v>1.79</c:v>
                </c:pt>
                <c:pt idx="35">
                  <c:v>2.4</c:v>
                </c:pt>
                <c:pt idx="36">
                  <c:v>2.58</c:v>
                </c:pt>
                <c:pt idx="37">
                  <c:v/>
                </c:pt>
                <c:pt idx="38">
                  <c:v>2.39</c:v>
                </c:pt>
                <c:pt idx="39">
                  <c:v/>
                </c:pt>
                <c:pt idx="40">
                  <c:v>2.6</c:v>
                </c:pt>
                <c:pt idx="41">
                  <c:v>1.81</c:v>
                </c:pt>
                <c:pt idx="42">
                  <c:v>1.25</c:v>
                </c:pt>
                <c:pt idx="43">
                  <c:v>0.15</c:v>
                </c:pt>
                <c:pt idx="44">
                  <c:v>0.08</c:v>
                </c:pt>
                <c:pt idx="45">
                  <c:v>0.38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42430"/>
                </a:solidFill>
                <a:latin typeface="+mj-lt"/>
              </a:rPr>
              <a:t>Nuwara Wewa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Nuwara Wewa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2023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2026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0</c:v>
                </c:pt>
                <c:pt idx="10">
                  <c:v>3.99</c:v>
                </c:pt>
                <c:pt idx="11">
                  <c:v>4.28</c:v>
                </c:pt>
                <c:pt idx="12">
                  <c:v>3.72</c:v>
                </c:pt>
                <c:pt idx="13">
                  <c:v>3.64</c:v>
                </c:pt>
                <c:pt idx="14">
                  <c:v>3.04</c:v>
                </c:pt>
                <c:pt idx="15">
                  <c:v>2.43</c:v>
                </c:pt>
                <c:pt idx="16">
                  <c:v/>
                </c:pt>
                <c:pt idx="17">
                  <c:v>2.97</c:v>
                </c:pt>
                <c:pt idx="18">
                  <c:v>2.38</c:v>
                </c:pt>
                <c:pt idx="19">
                  <c:v>1.98</c:v>
                </c:pt>
                <c:pt idx="20">
                  <c:v>1.8</c:v>
                </c:pt>
                <c:pt idx="21">
                  <c:v>1.09</c:v>
                </c:pt>
                <c:pt idx="22">
                  <c:v/>
                </c:pt>
                <c:pt idx="23">
                  <c:v>3.86</c:v>
                </c:pt>
                <c:pt idx="24">
                  <c:v>4.33</c:v>
                </c:pt>
                <c:pt idx="25">
                  <c:v>4.05</c:v>
                </c:pt>
                <c:pt idx="26">
                  <c:v>4.15</c:v>
                </c:pt>
                <c:pt idx="27">
                  <c:v/>
                </c:pt>
                <c:pt idx="28">
                  <c:v>3.95</c:v>
                </c:pt>
                <c:pt idx="29">
                  <c:v>3.38</c:v>
                </c:pt>
                <c:pt idx="30">
                  <c:v>2.99</c:v>
                </c:pt>
                <c:pt idx="31">
                  <c:v>2.4</c:v>
                </c:pt>
                <c:pt idx="32">
                  <c:v>2.12</c:v>
                </c:pt>
                <c:pt idx="33">
                  <c:v/>
                </c:pt>
                <c:pt idx="34">
                  <c:v>2.01</c:v>
                </c:pt>
                <c:pt idx="35">
                  <c:v>4.28</c:v>
                </c:pt>
                <c:pt idx="36">
                  <c:v>3.71</c:v>
                </c:pt>
                <c:pt idx="37">
                  <c:v/>
                </c:pt>
                <c:pt idx="38">
                  <c:v>3.53</c:v>
                </c:pt>
                <c:pt idx="39">
                  <c:v>3.18</c:v>
                </c:pt>
                <c:pt idx="40">
                  <c:v>3.12</c:v>
                </c:pt>
                <c:pt idx="41">
                  <c:v>3.25</c:v>
                </c:pt>
                <c:pt idx="42">
                  <c:v>2.84</c:v>
                </c:pt>
                <c:pt idx="43">
                  <c:v>2.28</c:v>
                </c:pt>
                <c:pt idx="44">
                  <c:v>2.07</c:v>
                </c:pt>
                <c:pt idx="45">
                  <c:v>2.02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6751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5852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SWOT Tank Water Tracker for Sri Lanka  ·  Group 6, JARVIS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SWOT Tank Water Tracker for Sri Lanka  ·  Group 6, JARVIS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ibrechb.github.io/swot-data-explorer/" TargetMode="External"/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ntinel-2 satellite view of the tanks around Mahakanadaraw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5"/>
                </a:solidFill>
              </a:rPr>
              <a:t>IS4990 COMPREHENSIVE GROUP PROJECT  ·  PROJECT PROPOSAL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SWOT Tank Water Tracker for Sri Lanka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6118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 AI system that estimates how much water each tank holds, using free satellite data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754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Group 6  ·  JARVIS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66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DE"/>
                </a:solidFill>
              </a:rPr>
              <a:t>Supervisors: Dr. Upeksha Ganegoda (IT)  ·  Prof. (Mrs) Thanuja Sandanayake (IDS)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04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DE"/>
                </a:solidFill>
              </a:rPr>
              <a:t>October 2026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6446520"/>
            <a:ext cx="578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DE"/>
                </a:solidFill>
              </a:rPr>
              <a:t>Tanks around Mahakanadarawa, Sentinel-2, 28 Feb 2026. Contains modified Copernicus Sentinel data 2026.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We can see the tanks, but not the water in them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~23,000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4356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tanks of 80 ha or less in Sri Lanka, the base of dry-zone farming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National Tanks Survey, in Lopane et al., 2025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73405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reservoirs publish daily water levels; village tanks publish none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355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Irrigation Department daily sheet, 25 Oct 2026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421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10,650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4032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bodies mapped from satellites, but by area only, with no volume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6542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IFAD, 2026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shallow tank and a deep tank of the same size hold very different amounts of water.</a:t>
            </a:r>
            <a:endParaRPr lang="en-US" sz="1600" dirty="0"/>
          </a:p>
        </p:txBody>
      </p:sp>
      <p:pic>
        <p:nvPicPr>
          <p:cNvPr id="13" name="Image 0" descr="Satellite image of the study area with every mapped tank shown in b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1371600"/>
            <a:ext cx="4389120" cy="4846320"/>
          </a:xfrm>
          <a:prstGeom prst="rect">
            <a:avLst/>
          </a:prstGeom>
        </p:spPr>
      </p:pic>
      <p:sp>
        <p:nvSpPr>
          <p:cNvPr id="14" name="image caption"/>
          <p:cNvSpPr/>
          <p:nvPr/>
        </p:nvSpPr>
        <p:spPr>
          <a:xfrm>
            <a:off x="7388352" y="5413248"/>
            <a:ext cx="4114800" cy="676656"/>
          </a:xfrm>
          <a:prstGeom prst="roundRect">
            <a:avLst>
              <a:gd name="adj" fmla="val 10811"/>
            </a:avLst>
          </a:prstGeom>
          <a:solidFill>
            <a:srgbClr val="0B2230">
              <a:alpha val="88000"/>
            </a:srgbClr>
          </a:solidFill>
          <a:ln w="12700">
            <a:solidFill>
              <a:srgbClr val="0B223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16368" y="54864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432 tanks of 6.25 ha or more in our study area (blue)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Sentinel-2, 28 Feb 2026 · outlines © OpenStreetMap contributors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SWOT gives the height. We turn it into water</a:t>
            </a:r>
            <a:endParaRPr lang="en-US" sz="3400" dirty="0"/>
          </a:p>
        </p:txBody>
      </p:sp>
      <p:sp>
        <p:nvSpPr>
          <p:cNvPr id="3" name="What SWOT gives"/>
          <p:cNvSpPr/>
          <p:nvPr/>
        </p:nvSpPr>
        <p:spPr>
          <a:xfrm>
            <a:off x="548640" y="132588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4" name="icon FaSatellite"/>
          <p:cNvSpPr/>
          <p:nvPr/>
        </p:nvSpPr>
        <p:spPr>
          <a:xfrm>
            <a:off x="868680" y="162763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778508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73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SWOT gives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87168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water height of each lake, about twice every 21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for lakes in its prior lake list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Mostly "suspect" readings on small village tanks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volume, and nothing between passes</a:t>
            </a:r>
            <a:endParaRPr lang="en-US" sz="1600" dirty="0"/>
          </a:p>
        </p:txBody>
      </p:sp>
      <p:sp>
        <p:nvSpPr>
          <p:cNvPr id="8" name="What our project adds"/>
          <p:cNvSpPr/>
          <p:nvPr/>
        </p:nvSpPr>
        <p:spPr>
          <a:xfrm>
            <a:off x="6245352" y="132588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9" name="icon FaDroplet"/>
          <p:cNvSpPr/>
          <p:nvPr/>
        </p:nvSpPr>
        <p:spPr>
          <a:xfrm>
            <a:off x="6565392" y="1627632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1778508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42632" y="1673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our project adds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2487168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 area from Sentinel-1 and Sentinel-2 by AI, even under cloud and water plants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height–area–volume curve for every tank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Storage in m³ and % full, every 5–12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Accuracy checked against Irrigation Department gauges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dashboard for irrigation officers and farmers</a:t>
            </a:r>
            <a:endParaRPr lang="en-US" sz="1600" dirty="0"/>
          </a:p>
        </p:txBody>
      </p:sp>
      <p:sp>
        <p:nvSpPr>
          <p:cNvPr id="13" name="icon FaArrowRight"/>
          <p:cNvSpPr/>
          <p:nvPr/>
        </p:nvSpPr>
        <p:spPr>
          <a:xfrm>
            <a:off x="5820156" y="2971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3108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54406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SWOT is the ruler. We turn its readings into water in the tank.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SWOT: a satellite that measures water height</a:t>
            </a:r>
            <a:endParaRPr lang="en-US" sz="3400" dirty="0"/>
          </a:p>
        </p:txBody>
      </p:sp>
      <p:pic>
        <p:nvPicPr>
          <p:cNvPr id="3" name="Image 0" descr="Illustration of the SWOT satellite above Ear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309360" cy="3547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194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6DE"/>
                </a:solidFill>
              </a:rPr>
              <a:t>Illustration: NASA/JPL-Caltech</a:t>
            </a:r>
            <a:endParaRPr lang="en-US" sz="900" dirty="0"/>
          </a:p>
        </p:txBody>
      </p:sp>
      <p:sp>
        <p:nvSpPr>
          <p:cNvPr id="5" name="fact Dec 2022"/>
          <p:cNvSpPr/>
          <p:nvPr/>
        </p:nvSpPr>
        <p:spPr>
          <a:xfrm>
            <a:off x="548640" y="5230368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5303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 2022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6967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E"/>
                </a:solidFill>
              </a:rPr>
              <a:t>launched by NASA and CNES (France)</a:t>
            </a:r>
            <a:endParaRPr lang="en-US" sz="1000" dirty="0"/>
          </a:p>
        </p:txBody>
      </p:sp>
      <p:sp>
        <p:nvSpPr>
          <p:cNvPr id="8" name="fact 120 km"/>
          <p:cNvSpPr/>
          <p:nvPr/>
        </p:nvSpPr>
        <p:spPr>
          <a:xfrm>
            <a:off x="2169871" y="5230368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07031" y="5303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120 km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2307031" y="56967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E"/>
                </a:solidFill>
              </a:rPr>
              <a:t>wide strip measured on each pass</a:t>
            </a:r>
            <a:endParaRPr lang="en-US" sz="1000" dirty="0"/>
          </a:p>
        </p:txBody>
      </p:sp>
      <p:sp>
        <p:nvSpPr>
          <p:cNvPr id="11" name="fact 21 days"/>
          <p:cNvSpPr/>
          <p:nvPr/>
        </p:nvSpPr>
        <p:spPr>
          <a:xfrm>
            <a:off x="3791102" y="5230368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28262" y="5303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 days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3928262" y="56967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E"/>
                </a:solidFill>
              </a:rPr>
              <a:t>until the same pass comes back</a:t>
            </a:r>
            <a:endParaRPr lang="en-US" sz="1000" dirty="0"/>
          </a:p>
        </p:txBody>
      </p:sp>
      <p:sp>
        <p:nvSpPr>
          <p:cNvPr id="14" name="fact 2 passes"/>
          <p:cNvSpPr/>
          <p:nvPr/>
        </p:nvSpPr>
        <p:spPr>
          <a:xfrm>
            <a:off x="5412334" y="5230368"/>
            <a:ext cx="1444752" cy="987552"/>
          </a:xfrm>
          <a:prstGeom prst="roundRect">
            <a:avLst>
              <a:gd name="adj" fmla="val 11111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49494" y="5303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passes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549494" y="56967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E"/>
                </a:solidFill>
              </a:rPr>
              <a:t>see our tanks: 273 and 092</a:t>
            </a:r>
            <a:endParaRPr lang="en-US" sz="1000" dirty="0"/>
          </a:p>
        </p:txBody>
      </p:sp>
      <p:pic>
        <p:nvPicPr>
          <p:cNvPr id="17" name="Image 1" descr="Map of Sri Lanka with the strips of the 7 SWOT passes; passes 273 and 092 cross our study ar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58" y="1280160"/>
            <a:ext cx="3276755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What SWOT sees: one pass, every lake at once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198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lakes measured in a single pass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249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SWOT pass 273 on 11 Oct 2026, in our 44 × 55 km study area</a:t>
            </a:r>
            <a:endParaRPr lang="en-US" sz="1400" dirty="0"/>
          </a:p>
        </p:txBody>
      </p:sp>
      <p:sp>
        <p:nvSpPr>
          <p:cNvPr id="6" name="icon FaRulerVertical"/>
          <p:cNvSpPr/>
          <p:nvPr/>
        </p:nvSpPr>
        <p:spPr>
          <a:xfrm>
            <a:off x="548640" y="33832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5112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4107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colour is the water height SWOT measured, in metres above sea level.</a:t>
            </a:r>
            <a:endParaRPr lang="en-US" sz="1500" dirty="0"/>
          </a:p>
        </p:txBody>
      </p:sp>
      <p:sp>
        <p:nvSpPr>
          <p:cNvPr id="9" name="icon FaCircleCheck"/>
          <p:cNvSpPr/>
          <p:nvPr/>
        </p:nvSpPr>
        <p:spPr>
          <a:xfrm>
            <a:off x="548640" y="416966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2976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19709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5 of our reservoirs were measured on this pass, for example Hurulu Wewa at 127.91 m.</a:t>
            </a:r>
            <a:endParaRPr lang="en-US" sz="1500" dirty="0"/>
          </a:p>
        </p:txBody>
      </p:sp>
      <p:sp>
        <p:nvSpPr>
          <p:cNvPr id="12" name="icon FaEyeSlash"/>
          <p:cNvSpPr/>
          <p:nvPr/>
        </p:nvSpPr>
        <p:spPr>
          <a:xfrm>
            <a:off x="548640" y="49560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0840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98348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SWOT cannot measure the strip right under itself, shown hatched on the map.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943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Data: NASA/JPL and CNES, SWOT Lake Single-Pass product, version D, from NASA PO.DAAC.</a:t>
            </a:r>
            <a:endParaRPr lang="en-US" sz="1050" dirty="0"/>
          </a:p>
        </p:txBody>
      </p:sp>
      <p:pic>
        <p:nvPicPr>
          <p:cNvPr id="16" name="Image 3" descr="Map of every lake SWOT measured in the study area on 11 October 2026, coloured by water he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174" y="1188720"/>
            <a:ext cx="3608138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Clouds hide the tanks. Radar sees through them</a:t>
            </a:r>
            <a:endParaRPr lang="en-US" sz="3400" dirty="0"/>
          </a:p>
        </p:txBody>
      </p:sp>
      <p:pic>
        <p:nvPicPr>
          <p:cNvPr id="3" name="Image 0" descr="Sentinel-2, clear day, Hurulu Wewa, 28 Feb 2026 · optical, 1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520440" cy="3712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023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Sentinel-2, clear day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22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Hurulu Wewa, 28 Feb 2026 · optical, 10 m</a:t>
            </a:r>
            <a:endParaRPr lang="en-US" sz="1200" dirty="0"/>
          </a:p>
        </p:txBody>
      </p:sp>
      <p:pic>
        <p:nvPicPr>
          <p:cNvPr id="6" name="Image 1" descr="Sentinel-2, monsoon cloud, Hurulu Wewa, 30 Nov 2025 · the tank is hidd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280160"/>
            <a:ext cx="3520440" cy="3712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34256" y="51023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Sentinel-2, monsoon cloud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334256" y="5422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Hurulu Wewa, 30 Nov 2025 · the tank is hidden</a:t>
            </a:r>
            <a:endParaRPr lang="en-US" sz="1200" dirty="0"/>
          </a:p>
        </p:txBody>
      </p:sp>
      <p:pic>
        <p:nvPicPr>
          <p:cNvPr id="9" name="Image 2" descr="Sentinel-1 radar, Hurulu Wewa, 2 Dec 2025 · water shows d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280160"/>
            <a:ext cx="3520440" cy="37124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19872" y="51023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Sentinel-1 radar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119872" y="5422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Hurulu Wewa, 2 Dec 2025 · water shows dark</a:t>
            </a:r>
            <a:endParaRPr lang="en-US" sz="1200" dirty="0"/>
          </a:p>
        </p:txBody>
      </p:sp>
      <p:sp>
        <p:nvSpPr>
          <p:cNvPr id="12" name="icon FaCloud"/>
          <p:cNvSpPr/>
          <p:nvPr/>
        </p:nvSpPr>
        <p:spPr>
          <a:xfrm>
            <a:off x="548640" y="5833872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943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583387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17–22% of Sentinel-2 dates were clear over our test tanks, so radar is a core input.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138160" y="5833872"/>
            <a:ext cx="3502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Contains modified Copernicus Sentinel data 2025–2026.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Study area: 5 reservoirs and 8 village tanks</a:t>
            </a:r>
            <a:endParaRPr lang="en-US" sz="3400" dirty="0"/>
          </a:p>
        </p:txBody>
      </p:sp>
      <p:pic>
        <p:nvPicPr>
          <p:cNvPr id="3" name="Image 0" descr="Study area map east of Anuradhapura with five reservoirs and eight numbered village tan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760720" cy="4785114"/>
          </a:xfrm>
          <a:prstGeom prst="rect">
            <a:avLst/>
          </a:prstGeom>
        </p:spPr>
      </p:pic>
      <p:sp>
        <p:nvSpPr>
          <p:cNvPr id="4" name="icon FaWater"/>
          <p:cNvSpPr/>
          <p:nvPr/>
        </p:nvSpPr>
        <p:spPr>
          <a:xfrm>
            <a:off x="66294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60920" y="1353312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major reservoirs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360920" y="1719072"/>
            <a:ext cx="4279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Hurulu Wewa, Mahakanadarawa, Manankattiya, Nachchaduwa and Nuwara Wewa, all with daily gauge readings</a:t>
            </a:r>
            <a:endParaRPr lang="en-US" sz="1300" dirty="0"/>
          </a:p>
        </p:txBody>
      </p:sp>
      <p:sp>
        <p:nvSpPr>
          <p:cNvPr id="8" name="icon FaSeedling"/>
          <p:cNvSpPr/>
          <p:nvPr/>
        </p:nvSpPr>
        <p:spPr>
          <a:xfrm>
            <a:off x="6629400" y="25877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2491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60920" y="256946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village tanks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7360920" y="2935224"/>
            <a:ext cx="4279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0.4–5 km from Mahakanadarawa: 2 open water, 3 mixed and 3 mostly covered by water plants</a:t>
            </a:r>
            <a:endParaRPr lang="en-US" sz="1300" dirty="0"/>
          </a:p>
        </p:txBody>
      </p:sp>
      <p:sp>
        <p:nvSpPr>
          <p:cNvPr id="12" name="icon FaSatellite"/>
          <p:cNvSpPr/>
          <p:nvPr/>
        </p:nvSpPr>
        <p:spPr>
          <a:xfrm>
            <a:off x="6629400" y="38039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94106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60920" y="378561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Seen by SWOT passes 273 and 092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7360920" y="4151376"/>
            <a:ext cx="4279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All 13 tanks, about twice every 21 days, with 47–90 usable readings each since July 2023</a:t>
            </a:r>
            <a:endParaRPr lang="en-US" sz="1300" dirty="0"/>
          </a:p>
        </p:txBody>
      </p:sp>
      <p:sp>
        <p:nvSpPr>
          <p:cNvPr id="16" name="icon FaMapLocationDot"/>
          <p:cNvSpPr/>
          <p:nvPr/>
        </p:nvSpPr>
        <p:spPr>
          <a:xfrm>
            <a:off x="6629400" y="5020056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15721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360920" y="500176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here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7360920" y="5367528"/>
            <a:ext cx="4279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Dry-zone tank cascades (ellanga), flat land, and official gauges to check against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entinel inputs"/>
          <p:cNvSpPr/>
          <p:nvPr/>
        </p:nvSpPr>
        <p:spPr>
          <a:xfrm>
            <a:off x="548640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Sentinel-1 and Sentinel-2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Radar and optical images, every 5–12 days</a:t>
            </a:r>
            <a:endParaRPr lang="en-US" sz="1150" dirty="0"/>
          </a:p>
        </p:txBody>
      </p:sp>
      <p:pic>
        <p:nvPicPr>
          <p:cNvPr id="6" name="Image 0" descr="Sentinel-2 view of Hurulu Wew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50592"/>
            <a:ext cx="987552" cy="1042416"/>
          </a:xfrm>
          <a:prstGeom prst="rect">
            <a:avLst/>
          </a:prstGeom>
        </p:spPr>
      </p:pic>
      <p:pic>
        <p:nvPicPr>
          <p:cNvPr id="7" name="Image 1" descr="Sentinel-1 radar view of Hurulu Wew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2450592"/>
            <a:ext cx="987552" cy="1042416"/>
          </a:xfrm>
          <a:prstGeom prst="rect">
            <a:avLst/>
          </a:prstGeom>
        </p:spPr>
      </p:pic>
      <p:sp>
        <p:nvSpPr>
          <p:cNvPr id="8" name="arrow"/>
          <p:cNvSpPr/>
          <p:nvPr/>
        </p:nvSpPr>
        <p:spPr>
          <a:xfrm>
            <a:off x="3063240" y="2628900"/>
            <a:ext cx="548640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9" name="AI water map"/>
          <p:cNvSpPr/>
          <p:nvPr/>
        </p:nvSpPr>
        <p:spPr>
          <a:xfrm>
            <a:off x="3611880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794760" y="1508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water map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79476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Open water, water under plants, and land</a:t>
            </a:r>
            <a:endParaRPr lang="en-US" sz="1150" dirty="0"/>
          </a:p>
        </p:txBody>
      </p:sp>
      <p:pic>
        <p:nvPicPr>
          <p:cNvPr id="12" name="Image 2" descr="Water map of Hurulu Wew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450592"/>
            <a:ext cx="987552" cy="1042416"/>
          </a:xfrm>
          <a:prstGeom prst="rect">
            <a:avLst/>
          </a:prstGeom>
        </p:spPr>
      </p:pic>
      <p:sp>
        <p:nvSpPr>
          <p:cNvPr id="13" name="SWOT heights"/>
          <p:cNvSpPr/>
          <p:nvPr/>
        </p:nvSpPr>
        <p:spPr>
          <a:xfrm>
            <a:off x="548640" y="434340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icon FaSatellite"/>
          <p:cNvSpPr/>
          <p:nvPr/>
        </p:nvSpPr>
        <p:spPr>
          <a:xfrm>
            <a:off x="822960" y="47183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860036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00200" y="45902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SWOT water heights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0020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From NASA's Hydrocron service since July 2023, with poor readings removed</a:t>
            </a:r>
            <a:endParaRPr lang="en-US" sz="1150" dirty="0"/>
          </a:p>
        </p:txBody>
      </p:sp>
      <p:sp>
        <p:nvSpPr>
          <p:cNvPr id="18" name="arrow"/>
          <p:cNvSpPr/>
          <p:nvPr/>
        </p:nvSpPr>
        <p:spPr>
          <a:xfrm>
            <a:off x="6126480" y="2628900"/>
            <a:ext cx="548640" cy="3886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19" name="arrow"/>
          <p:cNvSpPr/>
          <p:nvPr/>
        </p:nvSpPr>
        <p:spPr>
          <a:xfrm flipV="1">
            <a:off x="6126480" y="3931920"/>
            <a:ext cx="548640" cy="10744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20" name="Height-area-volume curve"/>
          <p:cNvSpPr/>
          <p:nvPr/>
        </p:nvSpPr>
        <p:spPr>
          <a:xfrm>
            <a:off x="6675120" y="23317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0" y="24871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Height–area–volume curve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DE"/>
                </a:solidFill>
              </a:rPr>
              <a:t>One per tank: each SWOT height paired with the AI water area of the same day</a:t>
            </a:r>
            <a:endParaRPr lang="en-US" sz="1150" dirty="0"/>
          </a:p>
        </p:txBody>
      </p:sp>
      <p:sp>
        <p:nvSpPr>
          <p:cNvPr id="23" name="arrow"/>
          <p:cNvSpPr/>
          <p:nvPr/>
        </p:nvSpPr>
        <p:spPr>
          <a:xfrm>
            <a:off x="9098280" y="3337560"/>
            <a:ext cx="411480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24" name="Storage"/>
          <p:cNvSpPr/>
          <p:nvPr/>
        </p:nvSpPr>
        <p:spPr>
          <a:xfrm>
            <a:off x="9509760" y="2331720"/>
            <a:ext cx="21305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674352" y="24871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Storage every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5–12 days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674352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Each new water map becomes a volume, shown on a dashboard</a:t>
            </a:r>
            <a:endParaRPr lang="en-US" sz="1150" dirty="0"/>
          </a:p>
        </p:txBody>
      </p:sp>
      <p:sp>
        <p:nvSpPr>
          <p:cNvPr id="27" name="arrow"/>
          <p:cNvSpPr/>
          <p:nvPr/>
        </p:nvSpPr>
        <p:spPr>
          <a:xfrm>
            <a:off x="10575036" y="4343400"/>
            <a:ext cx="0" cy="36576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28" name="Validation"/>
          <p:cNvSpPr/>
          <p:nvPr/>
        </p:nvSpPr>
        <p:spPr>
          <a:xfrm>
            <a:off x="6675120" y="4709160"/>
            <a:ext cx="496519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29" name="icon FaCheck"/>
          <p:cNvSpPr/>
          <p:nvPr/>
        </p:nvSpPr>
        <p:spPr>
          <a:xfrm>
            <a:off x="6858000" y="492861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505663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543800" y="4846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Checked against Irrigation Department gauges and official storage figures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Our method in three pictures: Hurulu Wewa</a:t>
            </a:r>
            <a:endParaRPr lang="en-US" sz="3400" dirty="0"/>
          </a:p>
        </p:txBody>
      </p:sp>
      <p:pic>
        <p:nvPicPr>
          <p:cNvPr id="3" name="Image 0" descr="Hurulu Wewa low, Sentinel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520440" cy="3712464"/>
          </a:xfrm>
          <a:prstGeom prst="rect">
            <a:avLst/>
          </a:prstGeom>
        </p:spPr>
      </p:pic>
      <p:sp>
        <p:nvSpPr>
          <p:cNvPr id="4" name="label Low"/>
          <p:cNvSpPr/>
          <p:nvPr/>
        </p:nvSpPr>
        <p:spPr>
          <a:xfrm>
            <a:off x="685800" y="141732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0B2230">
              <a:alpha val="80000"/>
            </a:srgbClr>
          </a:solidFill>
          <a:ln w="12700">
            <a:solidFill>
              <a:srgbClr val="0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74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127.59 m</a:t>
            </a:r>
            <a:pPr indent="0" marL="0">
              <a:buNone/>
            </a:pPr>
            <a:r>
              <a:rPr lang="en-US" sz="1200" dirty="0">
                <a:solidFill>
                  <a:srgbClr val="8FC1F2"/>
                </a:solidFill>
              </a:rPr>
              <a:t>   SWOT height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6.1 km² of water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70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</a:rPr>
              <a:t>Sentinel-2 29 Jul 2023 · SWOT 30 Jul 2023</a:t>
            </a:r>
            <a:endParaRPr lang="en-US" sz="1050" dirty="0"/>
          </a:p>
        </p:txBody>
      </p:sp>
      <p:pic>
        <p:nvPicPr>
          <p:cNvPr id="9" name="Image 1" descr="Hurulu Wewa half full, Sentinel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280160"/>
            <a:ext cx="3520440" cy="3712464"/>
          </a:xfrm>
          <a:prstGeom prst="rect">
            <a:avLst/>
          </a:prstGeom>
        </p:spPr>
      </p:pic>
      <p:sp>
        <p:nvSpPr>
          <p:cNvPr id="10" name="label Half full"/>
          <p:cNvSpPr/>
          <p:nvPr/>
        </p:nvSpPr>
        <p:spPr>
          <a:xfrm>
            <a:off x="4471416" y="141732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0B2230">
              <a:alpha val="80000"/>
            </a:srgbClr>
          </a:solidFill>
          <a:ln w="12700">
            <a:solidFill>
              <a:srgbClr val="0B223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71416" y="1417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Half full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334256" y="5074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129.50 m</a:t>
            </a:r>
            <a:pPr indent="0" marL="0">
              <a:buNone/>
            </a:pPr>
            <a:r>
              <a:rPr lang="en-US" sz="1200" dirty="0">
                <a:solidFill>
                  <a:srgbClr val="8FC1F2"/>
                </a:solidFill>
              </a:rPr>
              <a:t>   SWOT height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334256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8.3 km² of water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334256" y="5870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</a:rPr>
              <a:t>Sentinel-2 and SWOT, 30 Jul 2025</a:t>
            </a:r>
            <a:endParaRPr lang="en-US" sz="1050" dirty="0"/>
          </a:p>
        </p:txBody>
      </p:sp>
      <p:pic>
        <p:nvPicPr>
          <p:cNvPr id="15" name="Image 2" descr="Hurulu Wewa full, Sentine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280160"/>
            <a:ext cx="3520440" cy="3712464"/>
          </a:xfrm>
          <a:prstGeom prst="rect">
            <a:avLst/>
          </a:prstGeom>
        </p:spPr>
      </p:pic>
      <p:sp>
        <p:nvSpPr>
          <p:cNvPr id="16" name="label Full"/>
          <p:cNvSpPr/>
          <p:nvPr/>
        </p:nvSpPr>
        <p:spPr>
          <a:xfrm>
            <a:off x="8257032" y="141732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0B2230">
              <a:alpha val="80000"/>
            </a:srgbClr>
          </a:solidFill>
          <a:ln w="12700">
            <a:solidFill>
              <a:srgbClr val="0B223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57032" y="1417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Full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5074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132.35 m</a:t>
            </a:r>
            <a:pPr indent="0" marL="0">
              <a:buNone/>
            </a:pPr>
            <a:r>
              <a:rPr lang="en-US" sz="1200" dirty="0">
                <a:solidFill>
                  <a:srgbClr val="8FC1F2"/>
                </a:solidFill>
              </a:rPr>
              <a:t>   SWOT height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10.8 km² of water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19872" y="58704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</a:rPr>
              <a:t>Sentinel-2 28 Feb 2026 · SWOT 10 Mar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Three years of SWOT water levels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average of best-quality readings, in metres above each reservoir's lowest month.</a:t>
            </a:r>
            <a:endParaRPr lang="en-US" sz="1400" dirty="0"/>
          </a:p>
        </p:txBody>
      </p:sp>
      <p:graphicFrame>
        <p:nvGraphicFramePr>
          <p:cNvPr id="4" name="chart Hurulu Wewa" descr=""/>
          <p:cNvGraphicFramePr/>
          <p:nvPr/>
        </p:nvGraphicFramePr>
        <p:xfrm>
          <a:off x="548640" y="1737360"/>
          <a:ext cx="2103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71 best-quality readings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rose and fell up to 5.0 m</a:t>
            </a:r>
            <a:endParaRPr lang="en-US" sz="1150" dirty="0"/>
          </a:p>
        </p:txBody>
      </p:sp>
      <p:graphicFrame>
        <p:nvGraphicFramePr>
          <p:cNvPr id="7" name="chart Mahakanadarawa" descr=""/>
          <p:cNvGraphicFramePr/>
          <p:nvPr/>
        </p:nvGraphicFramePr>
        <p:xfrm>
          <a:off x="2796235" y="1737360"/>
          <a:ext cx="2103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796235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63 best-quality readings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796235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rose and fell up to 4.4 m</a:t>
            </a:r>
            <a:endParaRPr lang="en-US" sz="1150" dirty="0"/>
          </a:p>
        </p:txBody>
      </p:sp>
      <p:graphicFrame>
        <p:nvGraphicFramePr>
          <p:cNvPr id="10" name="chart Manankattiya" descr=""/>
          <p:cNvGraphicFramePr/>
          <p:nvPr/>
        </p:nvGraphicFramePr>
        <p:xfrm>
          <a:off x="5043830" y="1737360"/>
          <a:ext cx="2103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04383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57 best-quality readings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04383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rose and fell up to 3.7 m</a:t>
            </a:r>
            <a:endParaRPr lang="en-US" sz="1150" dirty="0"/>
          </a:p>
        </p:txBody>
      </p:sp>
      <p:graphicFrame>
        <p:nvGraphicFramePr>
          <p:cNvPr id="13" name="chart Nachchaduwa" descr=""/>
          <p:cNvGraphicFramePr/>
          <p:nvPr/>
        </p:nvGraphicFramePr>
        <p:xfrm>
          <a:off x="7291426" y="1737360"/>
          <a:ext cx="2103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7291426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 best-quality readings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7291426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rose and fell up to 3.0 m</a:t>
            </a:r>
            <a:endParaRPr lang="en-US" sz="1150" dirty="0"/>
          </a:p>
        </p:txBody>
      </p:sp>
      <p:graphicFrame>
        <p:nvGraphicFramePr>
          <p:cNvPr id="16" name="chart Nuwara Wewa" descr=""/>
          <p:cNvGraphicFramePr/>
          <p:nvPr/>
        </p:nvGraphicFramePr>
        <p:xfrm>
          <a:off x="9539021" y="1737360"/>
          <a:ext cx="2103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9539021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53 best-quality readings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9539021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rose and fell up to 4.3 m</a:t>
            </a:r>
            <a:endParaRPr lang="en-US" sz="11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NASA PO.DAAC Hydrocron, SWOT lake product version D, July 2023 to October 2026. Gaps are months without a best-quality reading.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We tested the data before proposing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Five quick checks in October 2026, using the real SWOT, Sentinel-2 and gauge data.</a:t>
            </a:r>
            <a:endParaRPr lang="en-US" sz="1400" dirty="0"/>
          </a:p>
        </p:txBody>
      </p:sp>
      <p:sp>
        <p:nvSpPr>
          <p:cNvPr id="4" name="check 1 · LAKE IDS"/>
          <p:cNvSpPr/>
          <p:nvPr/>
        </p:nvSpPr>
        <p:spPr>
          <a:xfrm>
            <a:off x="548640" y="1691640"/>
            <a:ext cx="2103120" cy="3246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accent6"/>
                </a:solidFill>
              </a:rPr>
              <a:t>1 · LAKE IDS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86%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Irrigation Department tanks in our area have a SWOT lake ID (43 of 50); 58% of all mapped tanks</a:t>
            </a:r>
            <a:endParaRPr lang="en-US" sz="1250" dirty="0"/>
          </a:p>
        </p:txBody>
      </p:sp>
      <p:sp>
        <p:nvSpPr>
          <p:cNvPr id="8" name="status RISK"/>
          <p:cNvSpPr/>
          <p:nvPr/>
        </p:nvSpPr>
        <p:spPr>
          <a:xfrm>
            <a:off x="731520" y="44074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056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0704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RISK</a:t>
            </a:r>
            <a:endParaRPr lang="en-US" sz="1150" dirty="0"/>
          </a:p>
        </p:txBody>
      </p:sp>
      <p:sp>
        <p:nvSpPr>
          <p:cNvPr id="11" name="check 2 · HEIGHTS"/>
          <p:cNvSpPr/>
          <p:nvPr/>
        </p:nvSpPr>
        <p:spPr>
          <a:xfrm>
            <a:off x="2796235" y="1691640"/>
            <a:ext cx="2103120" cy="3246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79115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accent6"/>
                </a:solidFill>
              </a:rPr>
              <a:t>2 · HEIGHTS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979115" y="21762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26,641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979115" y="281635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SWOT readings on 400 lakes since July 2023; village tanks get mostly "suspect" readings</a:t>
            </a:r>
            <a:endParaRPr lang="en-US" sz="1250" dirty="0"/>
          </a:p>
        </p:txBody>
      </p:sp>
      <p:sp>
        <p:nvSpPr>
          <p:cNvPr id="15" name="status RISK"/>
          <p:cNvSpPr/>
          <p:nvPr/>
        </p:nvSpPr>
        <p:spPr>
          <a:xfrm>
            <a:off x="2979115" y="44074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55" y="448056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308299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RISK</a:t>
            </a:r>
            <a:endParaRPr lang="en-US" sz="1150" dirty="0"/>
          </a:p>
        </p:txBody>
      </p:sp>
      <p:sp>
        <p:nvSpPr>
          <p:cNvPr id="18" name="check 3 · GAUGE CHECK"/>
          <p:cNvSpPr/>
          <p:nvPr/>
        </p:nvSpPr>
        <p:spPr>
          <a:xfrm>
            <a:off x="5043830" y="1691640"/>
            <a:ext cx="2103120" cy="3246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226710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accent6"/>
                </a:solidFill>
              </a:rPr>
              <a:t>3 · GAUGE CHECK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226710" y="21762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~1 m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5226710" y="281635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difference between SWOT and gauges on 4 reservoirs, with readings 13 to 20 days apart</a:t>
            </a:r>
            <a:endParaRPr lang="en-US" sz="1250" dirty="0"/>
          </a:p>
        </p:txBody>
      </p:sp>
      <p:sp>
        <p:nvSpPr>
          <p:cNvPr id="22" name="status OK"/>
          <p:cNvSpPr/>
          <p:nvPr/>
        </p:nvSpPr>
        <p:spPr>
          <a:xfrm>
            <a:off x="5226710" y="44074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50" y="448056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55894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OK</a:t>
            </a:r>
            <a:endParaRPr lang="en-US" sz="1150" dirty="0"/>
          </a:p>
        </p:txBody>
      </p:sp>
      <p:sp>
        <p:nvSpPr>
          <p:cNvPr id="25" name="check 4 · WATER AREA"/>
          <p:cNvSpPr/>
          <p:nvPr/>
        </p:nvSpPr>
        <p:spPr>
          <a:xfrm>
            <a:off x="7291426" y="1691640"/>
            <a:ext cx="2103120" cy="3246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474306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accent6"/>
                </a:solidFill>
              </a:rPr>
              <a:t>4 · WATER AREA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474306" y="21762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17–22%</a:t>
            </a:r>
            <a:endParaRPr lang="en-US" sz="3000" dirty="0"/>
          </a:p>
        </p:txBody>
      </p:sp>
      <p:sp>
        <p:nvSpPr>
          <p:cNvPr id="28" name="Text 23"/>
          <p:cNvSpPr txBox="1"/>
          <p:nvPr/>
        </p:nvSpPr>
        <p:spPr>
          <a:xfrm>
            <a:off x="7474306" y="281635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Sentinel-2 dates clear; water plants hide the water in 3 village tanks</a:t>
            </a:r>
            <a:endParaRPr lang="en-US" sz="1250" dirty="0"/>
          </a:p>
        </p:txBody>
      </p:sp>
      <p:sp>
        <p:nvSpPr>
          <p:cNvPr id="29" name="status RISK"/>
          <p:cNvSpPr/>
          <p:nvPr/>
        </p:nvSpPr>
        <p:spPr>
          <a:xfrm>
            <a:off x="7474306" y="44074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746" y="448056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803490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RISK</a:t>
            </a:r>
            <a:endParaRPr lang="en-US" sz="1150" dirty="0"/>
          </a:p>
        </p:txBody>
      </p:sp>
      <p:sp>
        <p:nvSpPr>
          <p:cNvPr id="32" name="check 5 · TRAINING DATA"/>
          <p:cNvSpPr/>
          <p:nvPr/>
        </p:nvSpPr>
        <p:spPr>
          <a:xfrm>
            <a:off x="9539021" y="1691640"/>
            <a:ext cx="2103120" cy="3246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721901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accent6"/>
                </a:solidFill>
              </a:rPr>
              <a:t>5 · TRAINING DATA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721901" y="21762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000" dirty="0"/>
          </a:p>
        </p:txBody>
      </p:sp>
      <p:sp>
        <p:nvSpPr>
          <p:cNvPr id="35" name="Text 29"/>
          <p:cNvSpPr txBox="1"/>
          <p:nvPr/>
        </p:nvSpPr>
        <p:spPr>
          <a:xfrm>
            <a:off x="9721901" y="281635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labelled water datasets ready to use: Sen1Floods11 and S1S2‑Water</a:t>
            </a:r>
            <a:endParaRPr lang="en-US" sz="1250" dirty="0"/>
          </a:p>
        </p:txBody>
      </p:sp>
      <p:sp>
        <p:nvSpPr>
          <p:cNvPr id="36" name="status PASS"/>
          <p:cNvSpPr/>
          <p:nvPr/>
        </p:nvSpPr>
        <p:spPr>
          <a:xfrm>
            <a:off x="9721901" y="44074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341" y="448056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051085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PASS</a:t>
            </a:r>
            <a:endParaRPr lang="en-US" sz="1150" dirty="0"/>
          </a:p>
        </p:txBody>
      </p:sp>
      <p:sp>
        <p:nvSpPr>
          <p:cNvPr id="39" name="verdict"/>
          <p:cNvSpPr/>
          <p:nvPr/>
        </p:nvSpPr>
        <p:spPr>
          <a:xfrm>
            <a:off x="548640" y="5138928"/>
            <a:ext cx="11094415" cy="896112"/>
          </a:xfrm>
          <a:prstGeom prst="roundRect">
            <a:avLst>
              <a:gd name="adj" fmla="val 12245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40" name="icon FaCheck"/>
          <p:cNvSpPr/>
          <p:nvPr/>
        </p:nvSpPr>
        <p:spPr>
          <a:xfrm>
            <a:off x="777240" y="5312664"/>
            <a:ext cx="548640" cy="54864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49824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554480" y="5193792"/>
            <a:ext cx="99056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Verdict: GO, with changes.  </a:t>
            </a:r>
            <a:pPr indent="0" marL="0">
              <a:buNone/>
            </a:pPr>
            <a:r>
              <a:rPr lang="en-US" sz="1350" dirty="0">
                <a:solidFill>
                  <a:srgbClr val="C9D6DE"/>
                </a:solidFill>
              </a:rPr>
              <a:t>Sentinel-1 radar and a water-plant class became core parts of the plan, and RQ2 now tests SWOT's "suspect" readings.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Why these tanks? We checked all of Sri Lanka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6th of 187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Hurulu Wewa's rank among Sri Lanka's big lakes (1 km² or more), by best-quality SWOT readings</a:t>
            </a:r>
            <a:endParaRPr lang="en-US" sz="1500" dirty="0"/>
          </a:p>
        </p:txBody>
      </p:sp>
      <p:sp>
        <p:nvSpPr>
          <p:cNvPr id="5" name="icon FaRankingStar"/>
          <p:cNvSpPr/>
          <p:nvPr/>
        </p:nvSpPr>
        <p:spPr>
          <a:xfrm>
            <a:off x="548640" y="294436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632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9077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All 5 of ours are in the island's top 22, and they are the top 5 in our study area</a:t>
            </a:r>
            <a:endParaRPr lang="en-US" sz="1450" dirty="0"/>
          </a:p>
        </p:txBody>
      </p:sp>
      <p:sp>
        <p:nvSpPr>
          <p:cNvPr id="8" name="icon FaLocationDot"/>
          <p:cNvSpPr/>
          <p:nvPr/>
        </p:nvSpPr>
        <p:spPr>
          <a:xfrm>
            <a:off x="548640" y="36758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7947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6393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The island's top tanks are spread from Puttalam to Hambantota, far from our village tanks</a:t>
            </a:r>
            <a:endParaRPr lang="en-US" sz="1450" dirty="0"/>
          </a:p>
        </p:txBody>
      </p:sp>
      <p:sp>
        <p:nvSpPr>
          <p:cNvPr id="11" name="icon FaSatellite"/>
          <p:cNvSpPr/>
          <p:nvPr/>
        </p:nvSpPr>
        <p:spPr>
          <a:xfrm>
            <a:off x="548640" y="440740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52628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43708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Ours sit next to the 8 village tanks and share the same 2 SWOT passes</a:t>
            </a:r>
            <a:endParaRPr lang="en-US" sz="1450" dirty="0"/>
          </a:p>
        </p:txBody>
      </p:sp>
      <p:sp>
        <p:nvSpPr>
          <p:cNvPr id="14" name="icon FaGaugeHigh"/>
          <p:cNvSpPr/>
          <p:nvPr/>
        </p:nvSpPr>
        <p:spPr>
          <a:xfrm>
            <a:off x="548640" y="51389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25780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510235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All 5 have daily Irrigation Department gauges; 2 of the island's top 5 tanks do not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Best quality: quality flag 0, crossover flag 0–1, dark water 10% or less (Köhn and Nielsen, 2026).</a:t>
            </a:r>
            <a:endParaRPr lang="en-US" sz="1000" dirty="0"/>
          </a:p>
        </p:txBody>
      </p:sp>
      <p:pic>
        <p:nvPicPr>
          <p:cNvPr id="18" name="Image 4" descr="Map of Sri Lanka's 187 big lakes coloured by best-quality SWOT readings, with our five reservoirs circl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105" y="1188720"/>
            <a:ext cx="3517207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Research questions</a:t>
            </a:r>
            <a:endParaRPr lang="en-US" sz="3400" dirty="0"/>
          </a:p>
        </p:txBody>
      </p:sp>
      <p:sp>
        <p:nvSpPr>
          <p:cNvPr id="3" name="RQ1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Q number"/>
          <p:cNvSpPr/>
          <p:nvPr/>
        </p:nvSpPr>
        <p:spPr>
          <a:xfrm>
            <a:off x="82296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2763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accurately can deep learning map tank water from Sentinel-1 and Sentinel-2, even under cloud or water plants?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9443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Measured by IoU and F1 against hand-labelled water masks</a:t>
            </a:r>
            <a:endParaRPr lang="en-US" sz="1150" dirty="0"/>
          </a:p>
        </p:txBody>
      </p:sp>
      <p:sp>
        <p:nvSpPr>
          <p:cNvPr id="8" name="RQ2"/>
          <p:cNvSpPr/>
          <p:nvPr/>
        </p:nvSpPr>
        <p:spPr>
          <a:xfrm>
            <a:off x="6199632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RQ number"/>
          <p:cNvSpPr/>
          <p:nvPr/>
        </p:nvSpPr>
        <p:spPr>
          <a:xfrm>
            <a:off x="6473952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51192" y="162763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accurate is SWOT on reservoirs and on small village tanks, and can its "suspect" readings be trusted?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29443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Measured by error in cm against gauge readings</a:t>
            </a:r>
            <a:endParaRPr lang="en-US" sz="1150" dirty="0"/>
          </a:p>
        </p:txBody>
      </p:sp>
      <p:sp>
        <p:nvSpPr>
          <p:cNvPr id="13" name="RQ3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RQ number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1363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Does AI water area plus SWOT height give storage close to official and measured values?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2303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Measured by error as a % of capacity</a:t>
            </a:r>
            <a:endParaRPr lang="en-US" sz="1150" dirty="0"/>
          </a:p>
        </p:txBody>
      </p:sp>
      <p:sp>
        <p:nvSpPr>
          <p:cNvPr id="18" name="RQ4"/>
          <p:cNvSpPr/>
          <p:nvPr/>
        </p:nvSpPr>
        <p:spPr>
          <a:xfrm>
            <a:off x="6199632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rgbClr val="D5DDE3"/>
            </a:solidFill>
            <a:prstDash val="dash"/>
          </a:ln>
        </p:spPr>
      </p:sp>
      <p:sp>
        <p:nvSpPr>
          <p:cNvPr id="19" name="RQ number"/>
          <p:cNvSpPr/>
          <p:nvPr/>
        </p:nvSpPr>
        <p:spPr>
          <a:xfrm>
            <a:off x="6473952" y="39319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3913632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storage be forecast 2–4 weeks ahead from recent storage and rainfall?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52303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Stretch goal, compared with a "no change" forecast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What we will deliver, and when</a:t>
            </a:r>
            <a:endParaRPr lang="en-US" sz="3400" dirty="0"/>
          </a:p>
        </p:txBody>
      </p:sp>
      <p:sp>
        <p:nvSpPr>
          <p:cNvPr id="3" name="icon FaDatabase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356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labelled dataset of Sri Lankan tank water masks</a:t>
            </a:r>
            <a:endParaRPr lang="en-US" sz="1600" dirty="0"/>
          </a:p>
        </p:txBody>
      </p:sp>
      <p:sp>
        <p:nvSpPr>
          <p:cNvPr id="6" name="icon FaBrain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3500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AI water map that works under cloud and water plants</a:t>
            </a:r>
            <a:endParaRPr lang="en-US" sz="1600" dirty="0"/>
          </a:p>
        </p:txBody>
      </p:sp>
      <p:sp>
        <p:nvSpPr>
          <p:cNvPr id="9" name="icon FaChartLin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2644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Height–area–volume curves for all 13 tanks</a:t>
            </a:r>
            <a:endParaRPr lang="en-US" sz="1600" dirty="0"/>
          </a:p>
        </p:txBody>
      </p:sp>
      <p:sp>
        <p:nvSpPr>
          <p:cNvPr id="12" name="icon FaGaugeHigh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976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1788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Storage every 5–12 days, shown on a dashboard</a:t>
            </a:r>
            <a:endParaRPr lang="en-US" sz="1600" dirty="0"/>
          </a:p>
        </p:txBody>
      </p:sp>
      <p:sp>
        <p:nvSpPr>
          <p:cNvPr id="15" name="icon FaFileLines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2120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50932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research paper, for example for UoM's ICITR conference</a:t>
            </a:r>
            <a:endParaRPr lang="en-US" sz="1600" dirty="0"/>
          </a:p>
        </p:txBody>
      </p:sp>
      <p:sp>
        <p:nvSpPr>
          <p:cNvPr id="18" name="timeline"/>
          <p:cNvSpPr/>
          <p:nvPr/>
        </p:nvSpPr>
        <p:spPr>
          <a:xfrm>
            <a:off x="6537960" y="1280160"/>
            <a:ext cx="5102352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imeline line"/>
          <p:cNvSpPr/>
          <p:nvPr/>
        </p:nvSpPr>
        <p:spPr>
          <a:xfrm>
            <a:off x="7013448" y="1691640"/>
            <a:ext cx="0" cy="3931920"/>
          </a:xfrm>
          <a:prstGeom prst="line">
            <a:avLst/>
          </a:prstGeom>
          <a:noFill/>
          <a:ln w="25400">
            <a:solidFill>
              <a:srgbClr val="D5DDE3"/>
            </a:solidFill>
            <a:prstDash val="solid"/>
          </a:ln>
        </p:spPr>
      </p:sp>
      <p:sp>
        <p:nvSpPr>
          <p:cNvPr id="20" name="milestone Nov 2026"/>
          <p:cNvSpPr/>
          <p:nvPr/>
        </p:nvSpPr>
        <p:spPr>
          <a:xfrm>
            <a:off x="6903720" y="1645920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31520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Nov 2026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31520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Proposal, ethics and data requests</a:t>
            </a:r>
            <a:endParaRPr lang="en-US" sz="1250" dirty="0"/>
          </a:p>
        </p:txBody>
      </p:sp>
      <p:sp>
        <p:nvSpPr>
          <p:cNvPr id="23" name="milestone 15 Dec 2026"/>
          <p:cNvSpPr/>
          <p:nvPr/>
        </p:nvSpPr>
        <p:spPr>
          <a:xfrm>
            <a:off x="6903720" y="2578608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315200" y="25054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 Dec 2026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731520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Study area confirmed after the cascade and name checks</a:t>
            </a:r>
            <a:endParaRPr lang="en-US" sz="1250" dirty="0"/>
          </a:p>
        </p:txBody>
      </p:sp>
      <p:sp>
        <p:nvSpPr>
          <p:cNvPr id="26" name="milestone Dec 2026 – Apr 2027"/>
          <p:cNvSpPr/>
          <p:nvPr/>
        </p:nvSpPr>
        <p:spPr>
          <a:xfrm>
            <a:off x="6903720" y="3511296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315200" y="3438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 2026 – Apr 2027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0" y="3767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Labelled data, gauge readings, AI water model and SWOT curves</a:t>
            </a:r>
            <a:endParaRPr lang="en-US" sz="1250" dirty="0"/>
          </a:p>
        </p:txBody>
      </p:sp>
      <p:sp>
        <p:nvSpPr>
          <p:cNvPr id="29" name="milestone Mar – May 2027"/>
          <p:cNvSpPr/>
          <p:nvPr/>
        </p:nvSpPr>
        <p:spPr>
          <a:xfrm>
            <a:off x="6903720" y="4443984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315200" y="4370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 – May 2027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7315200" y="4700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Storage estimates, validation and dashboard</a:t>
            </a:r>
            <a:endParaRPr lang="en-US" sz="1250" dirty="0"/>
          </a:p>
        </p:txBody>
      </p:sp>
      <p:sp>
        <p:nvSpPr>
          <p:cNvPr id="32" name="milestone 30 Jun 2027"/>
          <p:cNvSpPr/>
          <p:nvPr/>
        </p:nvSpPr>
        <p:spPr>
          <a:xfrm>
            <a:off x="6903720" y="537667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315200" y="53035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 Jun 2027</a:t>
            </a:r>
            <a:endParaRPr lang="en-US" sz="1450" dirty="0"/>
          </a:p>
        </p:txBody>
      </p:sp>
      <p:sp>
        <p:nvSpPr>
          <p:cNvPr id="34" name="Text 27"/>
          <p:cNvSpPr txBox="1"/>
          <p:nvPr/>
        </p:nvSpPr>
        <p:spPr>
          <a:xfrm>
            <a:off x="7315200" y="56327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Thesis, paper and final submission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cademic\07\IS4990 Comprehensive Group Project\temp\presentation\img\cards\clo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70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DE"/>
                </a:solidFill>
              </a:rPr>
              <a:t>Questions and feedback are welcome.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sources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SWOT: NASA/JPL and CNES, Lake Single-Pass product version D (PO.DAAC, Hydrocron)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Sentinel-1 and Sentinel-2: ESA Copernicus (Earth Search and Microsoft Planetary Computer)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Reservoir levels and outlines: Irrigation Department of Sri Lanka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Tank outlines © OpenStreetMap contributors; Sri Lanka boundary: geoBoundaries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SWOT illustration: NASA/JPL-Caltech</a:t>
            </a:r>
            <a:endParaRPr lang="en-US" sz="1350" dirty="0"/>
          </a:p>
        </p:txBody>
      </p:sp>
      <p:sp>
        <p:nvSpPr>
          <p:cNvPr id="7" name="QR frame"/>
          <p:cNvSpPr/>
          <p:nvPr/>
        </p:nvSpPr>
        <p:spPr>
          <a:xfrm>
            <a:off x="9098280" y="2103120"/>
            <a:ext cx="2542032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QR code to the SWOT Lake and River Explorer web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240280"/>
            <a:ext cx="2267712" cy="22677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0" y="48006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DE"/>
                </a:solidFill>
              </a:rPr>
              <a:t>See SWOT readings for any lake:</a:t>
            </a:r>
            <a:endParaRPr lang="en-US" sz="1250" dirty="0"/>
          </a:p>
          <a:p>
            <a:pPr indent="0" marL="0">
              <a:buNone/>
            </a:pPr>
            <a:r>
              <a:rPr lang="en-US" sz="1250" b="1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SWOT Lake and River Explorer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OT Tank Tracker">
  <a:themeElements>
    <a:clrScheme name="SWOT Tank Tracker">
      <a:dk1>
        <a:srgbClr val="142430"/>
      </a:dk1>
      <a:lt1>
        <a:srgbClr val="FFFFFF"/>
      </a:lt1>
      <a:dk2>
        <a:srgbClr val="0B2230"/>
      </a:dk2>
      <a:lt2>
        <a:srgbClr val="EEF3F6"/>
      </a:lt2>
      <a:accent1>
        <a:srgbClr val="2A78D6"/>
      </a:accent1>
      <a:accent2>
        <a:srgbClr val="EB6834"/>
      </a:accent2>
      <a:accent3>
        <a:srgbClr val="1BAF7A"/>
      </a:accent3>
      <a:accent4>
        <a:srgbClr val="FAB219"/>
      </a:accent4>
      <a:accent5>
        <a:srgbClr val="8FC1F2"/>
      </a:accent5>
      <a:accent6>
        <a:srgbClr val="56656F"/>
      </a:accent6>
      <a:hlink>
        <a:srgbClr val="2A78D6"/>
      </a:hlink>
      <a:folHlink>
        <a:srgbClr val="1C5CAB"/>
      </a:folHlink>
    </a:clrScheme>
    <a:fontScheme name="SWOT Tank Tracker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of Moratuwa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Tank Water Tracker for Sri Lanka</dc:title>
  <dc:subject>IS4990 project proposal talk</dc:subject>
  <dc:creator>Group 6, JARVIS</dc:creator>
  <cp:lastModifiedBy>Group 6, JARVIS</cp:lastModifiedBy>
  <cp:revision>1</cp:revision>
  <dcterms:created xsi:type="dcterms:W3CDTF">2026-10-25T14:00:37Z</dcterms:created>
  <dcterms:modified xsi:type="dcterms:W3CDTF">2026-10-25T14:00:37Z</dcterms:modified>
</cp:coreProperties>
</file>